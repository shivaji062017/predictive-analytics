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Cleaning</c:v>
                </c:pt>
              </c:strCache>
            </c:strRef>
          </c:tx>
          <c:spPr>
            <a:solidFill>
              <a:srgbClr val="3A42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Completeness</c:v>
                  </c:pt>
                  <c:pt idx="1">
                    <c:v>Consistency</c:v>
                  </c:pt>
                  <c:pt idx="2">
                    <c:v>Accuracy</c:v>
                  </c:pt>
                  <c:pt idx="3">
                    <c:v>Timeliness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65</c:v>
                </c:pt>
                <c:pt idx="2">
                  <c:v>58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Cleaning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Completeness</c:v>
                  </c:pt>
                  <c:pt idx="1">
                    <c:v>Consistency</c:v>
                  </c:pt>
                  <c:pt idx="2">
                    <c:v>Accuracy</c:v>
                  </c:pt>
                  <c:pt idx="3">
                    <c:v>Timeliness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</c:v>
                </c:pt>
                <c:pt idx="1">
                  <c:v>95</c:v>
                </c:pt>
                <c:pt idx="2">
                  <c:v>92</c:v>
                </c:pt>
                <c:pt idx="3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5B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Jan'22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Jan'23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420</c:v>
                </c:pt>
                <c:pt idx="1">
                  <c:v>445</c:v>
                </c:pt>
                <c:pt idx="2">
                  <c:v>480</c:v>
                </c:pt>
                <c:pt idx="3">
                  <c:v>510</c:v>
                </c:pt>
                <c:pt idx="4">
                  <c:v>495</c:v>
                </c:pt>
                <c:pt idx="5">
                  <c:v>530</c:v>
                </c:pt>
                <c:pt idx="6">
                  <c:v>560</c:v>
                </c:pt>
                <c:pt idx="7">
                  <c:v>545</c:v>
                </c:pt>
                <c:pt idx="8">
                  <c:v>580</c:v>
                </c:pt>
                <c:pt idx="9">
                  <c:v>610</c:v>
                </c:pt>
                <c:pt idx="10">
                  <c:v>595</c:v>
                </c:pt>
                <c:pt idx="11">
                  <c:v>635</c:v>
                </c:pt>
                <c:pt idx="12">
                  <c:v>670</c:v>
                </c:pt>
                <c:pt idx="13">
                  <c:v>655</c:v>
                </c:pt>
                <c:pt idx="14">
                  <c:v>690</c:v>
                </c:pt>
                <c:pt idx="15">
                  <c:v>720</c:v>
                </c:pt>
                <c:pt idx="16">
                  <c:v>705</c:v>
                </c:pt>
                <c:pt idx="17">
                  <c:v>740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Predicted</c:v>
                </c:pt>
              </c:strCache>
            </c:strRef>
          </c:tx>
          <c:spPr>
            <a:solidFill>
              <a:srgbClr val="F4B942"/>
            </a:solidFill>
            <a:ln w="25400" cap="flat">
              <a:solidFill>
                <a:srgbClr val="F4B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Jan'22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Jan'23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418</c:v>
                </c:pt>
                <c:pt idx="1">
                  <c:v>442</c:v>
                </c:pt>
                <c:pt idx="2">
                  <c:v>476</c:v>
                </c:pt>
                <c:pt idx="3">
                  <c:v>508</c:v>
                </c:pt>
                <c:pt idx="4">
                  <c:v>492</c:v>
                </c:pt>
                <c:pt idx="5">
                  <c:v>527</c:v>
                </c:pt>
                <c:pt idx="6">
                  <c:v>555</c:v>
                </c:pt>
                <c:pt idx="7">
                  <c:v>542</c:v>
                </c:pt>
                <c:pt idx="8">
                  <c:v>578</c:v>
                </c:pt>
                <c:pt idx="9">
                  <c:v>607</c:v>
                </c:pt>
                <c:pt idx="10">
                  <c:v>592</c:v>
                </c:pt>
                <c:pt idx="11">
                  <c:v>631</c:v>
                </c:pt>
                <c:pt idx="12">
                  <c:v>668</c:v>
                </c:pt>
                <c:pt idx="13">
                  <c:v>652</c:v>
                </c:pt>
                <c:pt idx="14">
                  <c:v>686</c:v>
                </c:pt>
                <c:pt idx="15">
                  <c:v>717</c:v>
                </c:pt>
                <c:pt idx="16">
                  <c:v>702</c:v>
                </c:pt>
                <c:pt idx="17">
                  <c:v>736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5B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8B95B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8B95B2"/>
                </a:solidFill>
                <a:latin typeface="Arial"/>
              </a:rPr>
              <a:t>Actual vs Predicted Values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vs Predicted</c:v>
                </c:pt>
              </c:strCache>
            </c:strRef>
          </c:tx>
          <c:spPr>
            <a:solidFill>
              <a:srgbClr val="F06E5A"/>
            </a:solidFill>
            <a:ln w="12700" cap="flat">
              <a:solidFill>
                <a:srgbClr val="F06E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6E5A"/>
              </a:solidFill>
              <a:ln w="9525" cap="flat">
                <a:solidFill>
                  <a:srgbClr val="F06E5A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120</c:v>
                </c:pt>
                <c:pt idx="1">
                  <c:v>145</c:v>
                </c:pt>
                <c:pt idx="2">
                  <c:v>178</c:v>
                </c:pt>
                <c:pt idx="3">
                  <c:v>210</c:v>
                </c:pt>
                <c:pt idx="4">
                  <c:v>240</c:v>
                </c:pt>
                <c:pt idx="5">
                  <c:v>265</c:v>
                </c:pt>
                <c:pt idx="6">
                  <c:v>290</c:v>
                </c:pt>
                <c:pt idx="7">
                  <c:v>315</c:v>
                </c:pt>
                <c:pt idx="8">
                  <c:v>340</c:v>
                </c:pt>
                <c:pt idx="9">
                  <c:v>368</c:v>
                </c:pt>
                <c:pt idx="10">
                  <c:v>395</c:v>
                </c:pt>
                <c:pt idx="11">
                  <c:v>420</c:v>
                </c:pt>
                <c:pt idx="12">
                  <c:v>448</c:v>
                </c:pt>
                <c:pt idx="13">
                  <c:v>480</c:v>
                </c:pt>
                <c:pt idx="14">
                  <c:v>510</c:v>
                </c:pt>
                <c:pt idx="15">
                  <c:v>538</c:v>
                </c:pt>
                <c:pt idx="16">
                  <c:v>570</c:v>
                </c:pt>
                <c:pt idx="17">
                  <c:v>600</c:v>
                </c:pt>
                <c:pt idx="18">
                  <c:v>625</c:v>
                </c:pt>
                <c:pt idx="19">
                  <c:v>650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122.6</c:v>
                </c:pt>
                <c:pt idx="1">
                  <c:v>147.1</c:v>
                </c:pt>
                <c:pt idx="2">
                  <c:v>179.44</c:v>
                </c:pt>
                <c:pt idx="3">
                  <c:v>210.79999999999998</c:v>
                </c:pt>
                <c:pt idx="4">
                  <c:v>240.2</c:v>
                </c:pt>
                <c:pt idx="5">
                  <c:v>264.7</c:v>
                </c:pt>
                <c:pt idx="6">
                  <c:v>289.2</c:v>
                </c:pt>
                <c:pt idx="7">
                  <c:v>313.7</c:v>
                </c:pt>
                <c:pt idx="8">
                  <c:v>338.2</c:v>
                </c:pt>
                <c:pt idx="9">
                  <c:v>365.64</c:v>
                </c:pt>
                <c:pt idx="10">
                  <c:v>392.09999999999997</c:v>
                </c:pt>
                <c:pt idx="11">
                  <c:v>416.59999999999997</c:v>
                </c:pt>
                <c:pt idx="12">
                  <c:v>444.03999999999996</c:v>
                </c:pt>
                <c:pt idx="13">
                  <c:v>475.4</c:v>
                </c:pt>
                <c:pt idx="14">
                  <c:v>504.8</c:v>
                </c:pt>
                <c:pt idx="15">
                  <c:v>532.24</c:v>
                </c:pt>
                <c:pt idx="16">
                  <c:v>563.6</c:v>
                </c:pt>
                <c:pt idx="17">
                  <c:v>593</c:v>
                </c:pt>
                <c:pt idx="18">
                  <c:v>617.5</c:v>
                </c:pt>
                <c:pt idx="19">
                  <c:v>642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 Fit (y=x)</c:v>
                </c:pt>
              </c:strCache>
            </c:strRef>
          </c:tx>
          <c:spPr>
            <a:solidFill>
              <a:srgbClr val="000000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120</c:v>
                </c:pt>
                <c:pt idx="1">
                  <c:v>145</c:v>
                </c:pt>
                <c:pt idx="2">
                  <c:v>178</c:v>
                </c:pt>
                <c:pt idx="3">
                  <c:v>210</c:v>
                </c:pt>
                <c:pt idx="4">
                  <c:v>240</c:v>
                </c:pt>
                <c:pt idx="5">
                  <c:v>265</c:v>
                </c:pt>
                <c:pt idx="6">
                  <c:v>290</c:v>
                </c:pt>
                <c:pt idx="7">
                  <c:v>315</c:v>
                </c:pt>
                <c:pt idx="8">
                  <c:v>340</c:v>
                </c:pt>
                <c:pt idx="9">
                  <c:v>368</c:v>
                </c:pt>
                <c:pt idx="10">
                  <c:v>395</c:v>
                </c:pt>
                <c:pt idx="11">
                  <c:v>420</c:v>
                </c:pt>
                <c:pt idx="12">
                  <c:v>448</c:v>
                </c:pt>
                <c:pt idx="13">
                  <c:v>480</c:v>
                </c:pt>
                <c:pt idx="14">
                  <c:v>510</c:v>
                </c:pt>
                <c:pt idx="15">
                  <c:v>538</c:v>
                </c:pt>
                <c:pt idx="16">
                  <c:v>570</c:v>
                </c:pt>
                <c:pt idx="17">
                  <c:v>600</c:v>
                </c:pt>
                <c:pt idx="18">
                  <c:v>625</c:v>
                </c:pt>
                <c:pt idx="19">
                  <c:v>650</c:v>
                </c:pt>
              </c:numCache>
            </c:numRef>
          </c:xVal>
          <c:yVal>
            <c:numRef>
              <c:f>Sheet1!$C$2:$C$21</c:f>
              <c:numCache>
                <c:formatCode>General</c:formatCode>
                <c:ptCount val="20"/>
                <c:pt idx="0">
                  <c:v>120</c:v>
                </c:pt>
                <c:pt idx="1">
                  <c:v>145</c:v>
                </c:pt>
                <c:pt idx="2">
                  <c:v>178</c:v>
                </c:pt>
                <c:pt idx="3">
                  <c:v>210</c:v>
                </c:pt>
                <c:pt idx="4">
                  <c:v>240</c:v>
                </c:pt>
                <c:pt idx="5">
                  <c:v>265</c:v>
                </c:pt>
                <c:pt idx="6">
                  <c:v>290</c:v>
                </c:pt>
                <c:pt idx="7">
                  <c:v>315</c:v>
                </c:pt>
                <c:pt idx="8">
                  <c:v>340</c:v>
                </c:pt>
                <c:pt idx="9">
                  <c:v>368</c:v>
                </c:pt>
                <c:pt idx="10">
                  <c:v>395</c:v>
                </c:pt>
                <c:pt idx="11">
                  <c:v>420</c:v>
                </c:pt>
                <c:pt idx="12">
                  <c:v>448</c:v>
                </c:pt>
                <c:pt idx="13">
                  <c:v>480</c:v>
                </c:pt>
                <c:pt idx="14">
                  <c:v>510</c:v>
                </c:pt>
                <c:pt idx="15">
                  <c:v>538</c:v>
                </c:pt>
                <c:pt idx="16">
                  <c:v>570</c:v>
                </c:pt>
                <c:pt idx="17">
                  <c:v>600</c:v>
                </c:pt>
                <c:pt idx="18">
                  <c:v>625</c:v>
                </c:pt>
                <c:pt idx="19">
                  <c:v>650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5B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8B95B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8B95B2"/>
                </a:solidFill>
                <a:latin typeface="Arial"/>
              </a:rPr>
              <a:t>Residual Distribution (near-normal = good)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Residuals</c:v>
                </c:pt>
              </c:strCache>
            </c:strRef>
          </c:tx>
          <c:spPr>
            <a:solidFill>
              <a:srgbClr val="F06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-30 to -20</c:v>
                  </c:pt>
                  <c:pt idx="1">
                    <c:v>-20 to -10</c:v>
                  </c:pt>
                  <c:pt idx="2">
                    <c:v>-10 to 0</c:v>
                  </c:pt>
                  <c:pt idx="3">
                    <c:v>0 to 10</c:v>
                  </c:pt>
                  <c:pt idx="4">
                    <c:v>10 to 20</c:v>
                  </c:pt>
                  <c:pt idx="5">
                    <c:v>20 to 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11</c:v>
                </c:pt>
                <c:pt idx="2">
                  <c:v>24</c:v>
                </c:pt>
                <c:pt idx="3">
                  <c:v>22</c:v>
                </c:pt>
                <c:pt idx="4">
                  <c:v>10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Jan'26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</c:v>
                </c:pt>
                <c:pt idx="1">
                  <c:v>225</c:v>
                </c:pt>
                <c:pt idx="2">
                  <c:v>240</c:v>
                </c:pt>
                <c:pt idx="3">
                  <c:v>260</c:v>
                </c:pt>
                <c:pt idx="4">
                  <c:v>255</c:v>
                </c:pt>
                <c:pt idx="5">
                  <c:v>280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F4B942"/>
            </a:solidFill>
            <a:ln w="25400" cap="flat">
              <a:solidFill>
                <a:srgbClr val="F4B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Jan'26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280</c:v>
                </c:pt>
                <c:pt idx="6">
                  <c:v>295</c:v>
                </c:pt>
                <c:pt idx="7">
                  <c:v>310</c:v>
                </c:pt>
                <c:pt idx="8">
                  <c:v>330</c:v>
                </c:pt>
                <c:pt idx="9">
                  <c:v>315</c:v>
                </c:pt>
                <c:pt idx="10">
                  <c:v>345</c:v>
                </c:pt>
                <c:pt idx="11">
                  <c:v>370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 (95% CI)</c:v>
                </c:pt>
              </c:strCache>
            </c:strRef>
          </c:tx>
          <c:spPr>
            <a:solidFill>
              <a:srgbClr val="4CAF79"/>
            </a:solidFill>
            <a:ln w="25400" cap="flat">
              <a:solidFill>
                <a:srgbClr val="4CAF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79"/>
              </a:solidFill>
              <a:ln w="9525" cap="flat">
                <a:solidFill>
                  <a:srgbClr val="4CAF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Jan'26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285</c:v>
                </c:pt>
                <c:pt idx="6">
                  <c:v>310</c:v>
                </c:pt>
                <c:pt idx="7">
                  <c:v>330</c:v>
                </c:pt>
                <c:pt idx="8">
                  <c:v>355</c:v>
                </c:pt>
                <c:pt idx="9">
                  <c:v>340</c:v>
                </c:pt>
                <c:pt idx="10">
                  <c:v>375</c:v>
                </c:pt>
                <c:pt idx="11">
                  <c:v>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5B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8B95B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8B95B2"/>
                </a:solidFill>
                <a:latin typeface="Arial"/>
              </a:rPr>
              <a:t>Forecast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4B942"/>
              </a:solidFill>
              <a:effectLst/>
            </c:spPr>
          </c:dPt>
          <c:dPt>
            <c:idx val="2"/>
            <c:bubble3D val="0"/>
            <c:spPr>
              <a:solidFill>
                <a:srgbClr val="4CAF79"/>
              </a:solidFill>
              <a:effectLst/>
            </c:spPr>
          </c:dPt>
          <c:dPt>
            <c:idx val="3"/>
            <c:bubble3D val="0"/>
            <c:spPr>
              <a:solidFill>
                <a:srgbClr val="F06E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SMB</c:v>
                </c:pt>
                <c:pt idx="2">
                  <c:v>Consumer</c:v>
                </c:pt>
                <c:pt idx="3">
                  <c:v>Partner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28</c:v>
                </c:pt>
                <c:pt idx="2">
                  <c:v>22</c:v>
                </c:pt>
                <c:pt idx="3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5B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8B95B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8B95B2"/>
                </a:solidFill>
                <a:latin typeface="Arial"/>
              </a:rPr>
              <a:t>RMSE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(lower = better)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4F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Linear Reg.</c:v>
                  </c:pt>
                  <c:pt idx="1">
                    <c:v>Ridge Reg.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LSTM Neural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38.2</c:v>
                </c:pt>
                <c:pt idx="1">
                  <c:v>35.7</c:v>
                </c:pt>
                <c:pt idx="2">
                  <c:v>18.4</c:v>
                </c:pt>
                <c:pt idx="3">
                  <c:v>16.1</c:v>
                </c:pt>
                <c:pt idx="4">
                  <c:v>14.2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8B95B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8B95B2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(higher = better)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0916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AF7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Linear Reg.</c:v>
                  </c:pt>
                  <c:pt idx="1">
                    <c:v>Ridge Reg.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LSTM Neural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</c:v>
                </c:pt>
                <c:pt idx="1">
                  <c:v>0.84</c:v>
                </c:pt>
                <c:pt idx="2">
                  <c:v>0.93</c:v>
                </c:pt>
                <c:pt idx="3">
                  <c:v>0.95</c:v>
                </c:pt>
                <c:pt idx="4">
                  <c:v>0.967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3A42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D365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82880"/>
            <a:ext cx="2011680" cy="2011680"/>
          </a:xfrm>
          <a:prstGeom prst="ellipse">
            <a:avLst/>
          </a:prstGeom>
          <a:solidFill>
            <a:srgbClr val="F4B942">
              <a:alpha val="12000"/>
            </a:srgbClr>
          </a:solidFill>
          <a:ln w="12700">
            <a:solidFill>
              <a:srgbClr val="F4B94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0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Historical Data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926080"/>
            <a:ext cx="228600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Future Trends with 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840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057400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057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624328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624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(ARIMA)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3191256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91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0" y="3758184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758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Predictive Modeling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600200" cy="338328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6002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historical datasets from CSV/SQL sources. Handle missing values, outliers, duplicates.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1051560"/>
            <a:ext cx="1600200" cy="338328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051560"/>
            <a:ext cx="1600200" cy="1097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21408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245059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normalization, train-test split (80/20). Encode categorical variables.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1051560"/>
            <a:ext cx="1600200" cy="338328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051560"/>
            <a:ext cx="1600200" cy="109728"/>
          </a:xfrm>
          <a:prstGeom prst="rect">
            <a:avLst/>
          </a:prstGeom>
          <a:solidFill>
            <a:srgbClr val="4CAF79"/>
          </a:solidFill>
          <a:ln w="12700">
            <a:solidFill>
              <a:srgbClr val="4CAF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77056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77056" y="245059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ARIMA for time-series, Random Forest for non-linear patterns.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41264" y="1051560"/>
            <a:ext cx="1600200" cy="338328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41264" y="1051560"/>
            <a:ext cx="1600200" cy="109728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632704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32704" y="245059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metrics. Cross-validation, hyperparameter optimization (Grid Search).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96912" y="1051560"/>
            <a:ext cx="1600200" cy="338328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96912" y="1051560"/>
            <a:ext cx="16002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188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388352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Forecast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88352" y="2450592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charts, confidence intervals, residual plots, and Power BI dashboards.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feeds into the next — clean data leads to better models, better models lead to trustworthy forecasts.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Transform → Split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0" cy="65836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42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07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 imputation for numeric. Mode for categorical. Drop rows if &gt;30% null.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754880" cy="65836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83080"/>
            <a:ext cx="64008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196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(1.5x fence). Z-score &gt; ±3. Log transform for skewed distributions.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754880" cy="65836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64008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96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862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features, rolling averages (7/30 day), seasonality decomposition (STL).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4754880" cy="65836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337560"/>
            <a:ext cx="64008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374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/ Scaling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639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scaling for neural nets. StandardScaler for regression. Keep original for trees.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4754880" cy="65836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114800"/>
            <a:ext cx="64008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513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Train-Test-Validation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test. Time-aware split (no data leakage).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 Metrics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349240" y="1353312"/>
          <a:ext cx="3474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64515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 df.fillna(df.median()) | df = df[(z &lt; 3)] | scaler = StandardScaler(); X_scaled = scaler.fit_transform(X)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4CAF79"/>
          </a:solidFill>
          <a:ln w="12700">
            <a:solidFill>
              <a:srgbClr val="4CAF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Model  |  Historical vs Predicted vs Forecasted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960120"/>
            <a:ext cx="2103120" cy="73152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20840" y="960120"/>
            <a:ext cx="2103120" cy="64008"/>
          </a:xfrm>
          <a:prstGeom prst="rect">
            <a:avLst/>
          </a:prstGeom>
          <a:solidFill>
            <a:srgbClr val="4CAF79"/>
          </a:solidFill>
          <a:ln w="12700">
            <a:solidFill>
              <a:srgbClr val="4CAF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1033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1005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1371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 Error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20840" y="1828800"/>
            <a:ext cx="2103120" cy="73152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1828800"/>
            <a:ext cx="2103120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35240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1228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Error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20840" y="2697480"/>
            <a:ext cx="2103120" cy="73152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20840" y="2697480"/>
            <a:ext cx="21031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7706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27432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 of Fit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720840" y="3566160"/>
            <a:ext cx="2103120" cy="73152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20840" y="3566160"/>
            <a:ext cx="2103120" cy="64008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3639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35240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12280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 % Error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720840" y="4462272"/>
            <a:ext cx="210312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12280" y="4507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ARIMA(2,1,2)</a:t>
            </a:r>
            <a:pPr indent="0" marL="0">
              <a:buNone/>
            </a:pPr>
            <a:r>
              <a:rPr lang="en-US" sz="1000" dirty="0">
                <a:solidFill>
                  <a:srgbClr val="8B9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p=2  d=1  q=2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 |  Residual Distribution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9601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0040" y="4572000"/>
            <a:ext cx="1508760" cy="164592"/>
          </a:xfrm>
          <a:prstGeom prst="rect">
            <a:avLst/>
          </a:prstGeom>
          <a:solidFill>
            <a:srgbClr val="3A4266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0040" y="4572000"/>
            <a:ext cx="1327709" cy="164592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4754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Spend: 88%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039112" y="4572000"/>
            <a:ext cx="1508760" cy="164592"/>
          </a:xfrm>
          <a:prstGeom prst="rect">
            <a:avLst/>
          </a:prstGeom>
          <a:solidFill>
            <a:srgbClr val="3A4266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039112" y="4572000"/>
            <a:ext cx="1131570" cy="164592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39112" y="4754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Index: 75%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758184" y="4572000"/>
            <a:ext cx="1508760" cy="164592"/>
          </a:xfrm>
          <a:prstGeom prst="rect">
            <a:avLst/>
          </a:prstGeom>
          <a:solidFill>
            <a:srgbClr val="3A4266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58184" y="4572000"/>
            <a:ext cx="935431" cy="164592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58184" y="4754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Elasticity: 62%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477256" y="4572000"/>
            <a:ext cx="1508760" cy="164592"/>
          </a:xfrm>
          <a:prstGeom prst="rect">
            <a:avLst/>
          </a:prstGeom>
          <a:solidFill>
            <a:srgbClr val="3A4266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77256" y="4572000"/>
            <a:ext cx="678942" cy="164592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77256" y="4754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Activity: 45%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196328" y="4572000"/>
            <a:ext cx="1508760" cy="164592"/>
          </a:xfrm>
          <a:prstGeom prst="rect">
            <a:avLst/>
          </a:prstGeom>
          <a:solidFill>
            <a:srgbClr val="3A4266"/>
          </a:solidFill>
          <a:ln w="12700">
            <a:solidFill>
              <a:srgbClr val="3A426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96328" y="4572000"/>
            <a:ext cx="573329" cy="164592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96328" y="4754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Index: 38%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Forecast  |  KPI Tracking  |  Trend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1965960" cy="91440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965960" cy="64008"/>
          </a:xfrm>
          <a:prstGeom prst="rect">
            <a:avLst/>
          </a:prstGeom>
          <a:solidFill>
            <a:srgbClr val="4CAF79"/>
          </a:solidFill>
          <a:ln w="12700">
            <a:solidFill>
              <a:srgbClr val="4CAF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0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 (Q4)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87552"/>
            <a:ext cx="1965960" cy="91440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87552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060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316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709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87552"/>
            <a:ext cx="1965960" cy="91440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87552"/>
            <a:ext cx="1965960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60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Growth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316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709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987552"/>
            <a:ext cx="1965960" cy="914400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87552"/>
            <a:ext cx="1965960" cy="64008"/>
          </a:xfrm>
          <a:prstGeom prst="rect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060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Peak Month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1316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Dec'26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709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prev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20040" y="2011680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6217920" y="2011680"/>
          <a:ext cx="2606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wins? Benchmarking 5 algorithms.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94760"/>
          <a:ext cx="8503920" cy="1170432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914400"/>
                <a:gridCol w="822960"/>
                <a:gridCol w="1371600"/>
                <a:gridCol w="25603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Train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Recommended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6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Linear Regression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38.2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31.4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0.810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~1s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AF79"/>
                          </a:solidFill>
                        </a:rPr>
                        <a:t>Baseline only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Ridge Regression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35.7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29.1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0.840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~2s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AF79"/>
                          </a:solidFill>
                        </a:rPr>
                        <a:t>Low data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18.4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14.9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0.930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~15s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AF79"/>
                          </a:solidFill>
                        </a:rPr>
                        <a:t>Good all-round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16.1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13.2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0.950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~20s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AF79"/>
                          </a:solidFill>
                        </a:rPr>
                        <a:t>Tabular data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3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LSTM Neural Net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14.2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11.8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0.967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DF5"/>
                          </a:solidFill>
                        </a:rPr>
                        <a:t>~2min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AF79"/>
                          </a:solidFill>
                        </a:rPr>
                        <a:t>★ Time-Series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6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42C3F"/>
          </a:solidFill>
          <a:ln w="12700">
            <a:solidFill>
              <a:srgbClr val="242C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800600" cy="804672"/>
          </a:xfrm>
          <a:prstGeom prst="rect">
            <a:avLst/>
          </a:prstGeom>
          <a:solidFill>
            <a:srgbClr val="2D3655"/>
          </a:solidFill>
          <a:ln w="12700">
            <a:solidFill>
              <a:srgbClr val="4CAF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71600"/>
            <a:ext cx="411480" cy="411480"/>
          </a:xfrm>
          <a:prstGeom prst="ellipse">
            <a:avLst/>
          </a:prstGeom>
          <a:solidFill>
            <a:srgbClr val="4CAF79"/>
          </a:solidFill>
          <a:ln w="12700">
            <a:solidFill>
              <a:srgbClr val="4CAF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2801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will grow +14.2% in Q4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5910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predicts consistent upward trend driven by enterprise segment expansion.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4800600" cy="804672"/>
          </a:xfrm>
          <a:prstGeom prst="rect">
            <a:avLst/>
          </a:prstGeom>
          <a:solidFill>
            <a:srgbClr val="2D3655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286000"/>
            <a:ext cx="411480" cy="41148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21945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peaks in Nov–Dec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505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 component (STL decomposition) — plan inventory and marketing budgets accordingly.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4800600" cy="804672"/>
          </a:xfrm>
          <a:prstGeom prst="rect">
            <a:avLst/>
          </a:prstGeom>
          <a:solidFill>
            <a:srgbClr val="2D365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20040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31089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has highest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419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feature importance. Every $1 increase in marketing correlates with $3.2 revenue lift.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4800600" cy="804672"/>
          </a:xfrm>
          <a:prstGeom prst="rect">
            <a:avLst/>
          </a:prstGeom>
          <a:solidFill>
            <a:srgbClr val="2D3655"/>
          </a:solidFill>
          <a:ln w="12700">
            <a:solidFill>
              <a:srgbClr val="F0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114800"/>
            <a:ext cx="411480" cy="411480"/>
          </a:xfrm>
          <a:prstGeom prst="ellipse">
            <a:avLst/>
          </a:prstGeom>
          <a:solidFill>
            <a:srgbClr val="F06E5A"/>
          </a:solidFill>
          <a:ln w="12700">
            <a:solidFill>
              <a:srgbClr val="F06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40233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96.7% (R² = 0.967)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43342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outperforms traditional methods. Retrain monthly with rolling data window.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256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749808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841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61888" y="822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LSTM model to production endpoint (REST API)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1408176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1499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61888" y="14813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to live model for auto-refresh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2066544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21579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61888" y="21396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 thresholds for anomaly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2724912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77840" y="28163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61888" y="27980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pipeline (Apache Airflow)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3383280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77840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61888" y="3456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forecast-driven decisions vs baseline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4041648"/>
            <a:ext cx="3383280" cy="566928"/>
          </a:xfrm>
          <a:prstGeom prst="rect">
            <a:avLst/>
          </a:prstGeom>
          <a:solidFill>
            <a:srgbClr val="2D3655"/>
          </a:solidFill>
          <a:ln w="12700">
            <a:solidFill>
              <a:srgbClr val="3A42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77840" y="41330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61888" y="41148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multi-variate inputs (weather, social)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Analytics Using Historical Data</dc:title>
  <dc:subject>PptxGenJS Presentation</dc:subject>
  <dc:creator>PptxGenJS</dc:creator>
  <cp:lastModifiedBy>PptxGenJS</cp:lastModifiedBy>
  <cp:revision>1</cp:revision>
  <dcterms:created xsi:type="dcterms:W3CDTF">2026-05-24T08:53:41Z</dcterms:created>
  <dcterms:modified xsi:type="dcterms:W3CDTF">2026-05-24T08:53:41Z</dcterms:modified>
</cp:coreProperties>
</file>